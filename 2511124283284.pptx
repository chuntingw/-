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6858000" cy="12192000"/>
  <p:notesSz cx="6858000" cy="9144000"/>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308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gs" Target="tags/tag14.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57250" y="1995312"/>
            <a:ext cx="5143500" cy="4244622"/>
          </a:xfrm>
        </p:spPr>
        <p:txBody>
          <a:bodyPr anchor="b"/>
          <a:lstStyle>
            <a:lvl1pPr algn="ctr">
              <a:defRPr sz="3375"/>
            </a:lvl1pPr>
          </a:lstStyle>
          <a:p>
            <a:r>
              <a:rPr lang="zh-CN" altLang="en-US"/>
              <a:t>单击此处编辑母版标题样式</a:t>
            </a:r>
            <a:endParaRPr lang="zh-CN" altLang="en-US"/>
          </a:p>
        </p:txBody>
      </p:sp>
      <p:sp>
        <p:nvSpPr>
          <p:cNvPr id="3" name="副标题 2"/>
          <p:cNvSpPr>
            <a:spLocks noGrp="1"/>
          </p:cNvSpPr>
          <p:nvPr>
            <p:ph type="subTitle" idx="1"/>
          </p:nvPr>
        </p:nvSpPr>
        <p:spPr>
          <a:xfrm>
            <a:off x="857250" y="6403623"/>
            <a:ext cx="5143500" cy="2943577"/>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FCD1A61-F032-423E-B708-6D6516A95D9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07BBA5-0227-40AC-A465-54BF299DA47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FCD1A61-F032-423E-B708-6D6516A95D9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07BBA5-0227-40AC-A465-54BF299DA47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467916" y="3039535"/>
            <a:ext cx="5915025" cy="5071532"/>
          </a:xfrm>
        </p:spPr>
        <p:txBody>
          <a:bodyPr anchor="b"/>
          <a:lstStyle>
            <a:lvl1pPr>
              <a:defRPr sz="3375"/>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67916" y="8159046"/>
            <a:ext cx="5915025" cy="2666999"/>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FCD1A61-F032-423E-B708-6D6516A95D9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07BBA5-0227-40AC-A465-54BF299DA47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71488" y="3245556"/>
            <a:ext cx="2914650" cy="773571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3471863" y="3245556"/>
            <a:ext cx="2914650" cy="773571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AFCD1A61-F032-423E-B708-6D6516A95D9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07BBA5-0227-40AC-A465-54BF299DA47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72381" y="649112"/>
            <a:ext cx="5915025" cy="2356556"/>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472381" y="2988734"/>
            <a:ext cx="2901255" cy="1464732"/>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72381" y="4453467"/>
            <a:ext cx="2901255" cy="6550379"/>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3471863" y="2988734"/>
            <a:ext cx="2915543" cy="1464732"/>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3471863" y="4453467"/>
            <a:ext cx="2915543" cy="6550379"/>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AFCD1A61-F032-423E-B708-6D6516A95D9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07BBA5-0227-40AC-A465-54BF299DA47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FCD1A61-F032-423E-B708-6D6516A95D9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07BBA5-0227-40AC-A465-54BF299DA47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FCD1A61-F032-423E-B708-6D6516A95D9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07BBA5-0227-40AC-A465-54BF299DA47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72381" y="812800"/>
            <a:ext cx="2211883" cy="2844800"/>
          </a:xfrm>
        </p:spPr>
        <p:txBody>
          <a:bodyPr anchor="b"/>
          <a:lstStyle>
            <a:lvl1pPr>
              <a:defRPr sz="1800"/>
            </a:lvl1pPr>
          </a:lstStyle>
          <a:p>
            <a:r>
              <a:rPr lang="zh-CN" altLang="en-US"/>
              <a:t>单击此处编辑母版标题样式</a:t>
            </a:r>
            <a:endParaRPr lang="zh-CN" altLang="en-US"/>
          </a:p>
        </p:txBody>
      </p:sp>
      <p:sp>
        <p:nvSpPr>
          <p:cNvPr id="3" name="内容占位符 2"/>
          <p:cNvSpPr>
            <a:spLocks noGrp="1"/>
          </p:cNvSpPr>
          <p:nvPr>
            <p:ph idx="1"/>
          </p:nvPr>
        </p:nvSpPr>
        <p:spPr>
          <a:xfrm>
            <a:off x="2915543" y="1755423"/>
            <a:ext cx="3471863" cy="8664222"/>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472381" y="3657600"/>
            <a:ext cx="2211883" cy="6776156"/>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FCD1A61-F032-423E-B708-6D6516A95D9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07BBA5-0227-40AC-A465-54BF299DA4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472381" y="812800"/>
            <a:ext cx="2211883" cy="2844800"/>
          </a:xfrm>
        </p:spPr>
        <p:txBody>
          <a:bodyPr anchor="b"/>
          <a:lstStyle>
            <a:lvl1pPr>
              <a:defRPr sz="18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2915543" y="1755423"/>
            <a:ext cx="3471863" cy="8664222"/>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zh-CN" altLang="en-US"/>
          </a:p>
        </p:txBody>
      </p:sp>
      <p:sp>
        <p:nvSpPr>
          <p:cNvPr id="4" name="文本占位符 3"/>
          <p:cNvSpPr>
            <a:spLocks noGrp="1"/>
          </p:cNvSpPr>
          <p:nvPr>
            <p:ph type="body" sz="half" idx="2"/>
          </p:nvPr>
        </p:nvSpPr>
        <p:spPr>
          <a:xfrm>
            <a:off x="472381" y="3657600"/>
            <a:ext cx="2211883" cy="6776156"/>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FCD1A61-F032-423E-B708-6D6516A95D9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07BBA5-0227-40AC-A465-54BF299DA47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FCD1A61-F032-423E-B708-6D6516A95D9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07BBA5-0227-40AC-A465-54BF299DA47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4907756" y="649111"/>
            <a:ext cx="1478756" cy="10332156"/>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71487" y="649111"/>
            <a:ext cx="4350544" cy="10332156"/>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FCD1A61-F032-423E-B708-6D6516A95D9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07BBA5-0227-40AC-A465-54BF299DA47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71488" y="649112"/>
            <a:ext cx="5915025" cy="2356556"/>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471488" y="11300179"/>
            <a:ext cx="1543050" cy="649111"/>
          </a:xfrm>
          <a:prstGeom prst="rect">
            <a:avLst/>
          </a:prstGeom>
        </p:spPr>
        <p:txBody>
          <a:bodyPr vert="horz" lIns="91440" tIns="45720" rIns="91440" bIns="45720" rtlCol="0" anchor="ctr"/>
          <a:lstStyle>
            <a:lvl1pPr algn="l">
              <a:defRPr sz="675">
                <a:solidFill>
                  <a:schemeClr val="tx1">
                    <a:tint val="75000"/>
                  </a:schemeClr>
                </a:solidFill>
              </a:defRPr>
            </a:lvl1pPr>
          </a:lstStyle>
          <a:p>
            <a:fld id="{AFCD1A61-F032-423E-B708-6D6516A95D96}" type="datetimeFigureOut">
              <a:rPr lang="zh-CN" altLang="en-US" smtClean="0"/>
            </a:fld>
            <a:endParaRPr lang="zh-CN" altLang="en-US"/>
          </a:p>
        </p:txBody>
      </p:sp>
      <p:sp>
        <p:nvSpPr>
          <p:cNvPr id="5" name="页脚占位符 4"/>
          <p:cNvSpPr>
            <a:spLocks noGrp="1"/>
          </p:cNvSpPr>
          <p:nvPr>
            <p:ph type="ftr" sz="quarter" idx="3"/>
          </p:nvPr>
        </p:nvSpPr>
        <p:spPr>
          <a:xfrm>
            <a:off x="2271713" y="11300179"/>
            <a:ext cx="2314575" cy="649111"/>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4843463" y="11300179"/>
            <a:ext cx="1543050" cy="649111"/>
          </a:xfrm>
          <a:prstGeom prst="rect">
            <a:avLst/>
          </a:prstGeom>
        </p:spPr>
        <p:txBody>
          <a:bodyPr vert="horz" lIns="91440" tIns="45720" rIns="91440" bIns="45720" rtlCol="0" anchor="ctr"/>
          <a:lstStyle>
            <a:lvl1pPr algn="r">
              <a:defRPr sz="675">
                <a:solidFill>
                  <a:schemeClr val="tx1">
                    <a:tint val="75000"/>
                  </a:schemeClr>
                </a:solidFill>
              </a:defRPr>
            </a:lvl1pPr>
          </a:lstStyle>
          <a:p>
            <a:fld id="{A807BBA5-0227-40AC-A465-54BF299DA47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905" indent="-128905" algn="l" defTabSz="514350" rtl="0" eaLnBrk="1" latinLnBrk="0" hangingPunct="1">
        <a:lnSpc>
          <a:spcPct val="90000"/>
        </a:lnSpc>
        <a:spcBef>
          <a:spcPts val="565"/>
        </a:spcBef>
        <a:buFont typeface="Arial" panose="020B0604020202090204" pitchFamily="34" charset="0"/>
        <a:buChar char="•"/>
        <a:defRPr sz="1575" kern="1200">
          <a:solidFill>
            <a:schemeClr val="tx1"/>
          </a:solidFill>
          <a:latin typeface="+mn-lt"/>
          <a:ea typeface="+mn-ea"/>
          <a:cs typeface="+mn-cs"/>
        </a:defRPr>
      </a:lvl1pPr>
      <a:lvl2pPr marL="386080" indent="-128905" algn="l" defTabSz="514350" rtl="0" eaLnBrk="1" latinLnBrk="0" hangingPunct="1">
        <a:lnSpc>
          <a:spcPct val="90000"/>
        </a:lnSpc>
        <a:spcBef>
          <a:spcPts val="280"/>
        </a:spcBef>
        <a:buFont typeface="Arial" panose="020B0604020202090204" pitchFamily="34" charset="0"/>
        <a:buChar char="•"/>
        <a:defRPr sz="1350" kern="1200">
          <a:solidFill>
            <a:schemeClr val="tx1"/>
          </a:solidFill>
          <a:latin typeface="+mn-lt"/>
          <a:ea typeface="+mn-ea"/>
          <a:cs typeface="+mn-cs"/>
        </a:defRPr>
      </a:lvl2pPr>
      <a:lvl3pPr marL="643255" indent="-128905" algn="l" defTabSz="514350" rtl="0" eaLnBrk="1" latinLnBrk="0" hangingPunct="1">
        <a:lnSpc>
          <a:spcPct val="90000"/>
        </a:lnSpc>
        <a:spcBef>
          <a:spcPts val="280"/>
        </a:spcBef>
        <a:buFont typeface="Arial" panose="020B0604020202090204" pitchFamily="34" charset="0"/>
        <a:buChar char="•"/>
        <a:defRPr sz="1125" kern="1200">
          <a:solidFill>
            <a:schemeClr val="tx1"/>
          </a:solidFill>
          <a:latin typeface="+mn-lt"/>
          <a:ea typeface="+mn-ea"/>
          <a:cs typeface="+mn-cs"/>
        </a:defRPr>
      </a:lvl3pPr>
      <a:lvl4pPr marL="900430" indent="-128905" algn="l" defTabSz="514350" rtl="0" eaLnBrk="1" latinLnBrk="0" hangingPunct="1">
        <a:lnSpc>
          <a:spcPct val="90000"/>
        </a:lnSpc>
        <a:spcBef>
          <a:spcPts val="280"/>
        </a:spcBef>
        <a:buFont typeface="Arial" panose="020B0604020202090204" pitchFamily="34" charset="0"/>
        <a:buChar char="•"/>
        <a:defRPr sz="1015" kern="1200">
          <a:solidFill>
            <a:schemeClr val="tx1"/>
          </a:solidFill>
          <a:latin typeface="+mn-lt"/>
          <a:ea typeface="+mn-ea"/>
          <a:cs typeface="+mn-cs"/>
        </a:defRPr>
      </a:lvl4pPr>
      <a:lvl5pPr marL="1157605" indent="-128905" algn="l" defTabSz="514350" rtl="0" eaLnBrk="1" latinLnBrk="0" hangingPunct="1">
        <a:lnSpc>
          <a:spcPct val="90000"/>
        </a:lnSpc>
        <a:spcBef>
          <a:spcPts val="280"/>
        </a:spcBef>
        <a:buFont typeface="Arial" panose="020B0604020202090204" pitchFamily="34" charset="0"/>
        <a:buChar char="•"/>
        <a:defRPr sz="1015" kern="1200">
          <a:solidFill>
            <a:schemeClr val="tx1"/>
          </a:solidFill>
          <a:latin typeface="+mn-lt"/>
          <a:ea typeface="+mn-ea"/>
          <a:cs typeface="+mn-cs"/>
        </a:defRPr>
      </a:lvl5pPr>
      <a:lvl6pPr marL="1414780" indent="-128905" algn="l" defTabSz="514350" rtl="0" eaLnBrk="1" latinLnBrk="0" hangingPunct="1">
        <a:lnSpc>
          <a:spcPct val="90000"/>
        </a:lnSpc>
        <a:spcBef>
          <a:spcPts val="280"/>
        </a:spcBef>
        <a:buFont typeface="Arial" panose="020B060402020209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9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9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90204" pitchFamily="34" charset="0"/>
        <a:buChar char="•"/>
        <a:defRPr sz="1015" kern="1200">
          <a:solidFill>
            <a:schemeClr val="tx1"/>
          </a:solidFill>
          <a:latin typeface="+mn-lt"/>
          <a:ea typeface="+mn-ea"/>
          <a:cs typeface="+mn-cs"/>
        </a:defRPr>
      </a:lvl9pPr>
    </p:bodyStyle>
    <p:otherStyle>
      <a:defPPr>
        <a:defRPr lang="zh-CN"/>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slideLayout" Target="../slideLayouts/slideLayout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25" y="0"/>
            <a:ext cx="6857019" cy="12192000"/>
          </a:xfrm>
          <a:prstGeom prst="rect">
            <a:avLst/>
          </a:prstGeom>
        </p:spPr>
      </p:pic>
      <p:sp>
        <p:nvSpPr>
          <p:cNvPr id="3" name="文本框 2"/>
          <p:cNvSpPr txBox="1"/>
          <p:nvPr/>
        </p:nvSpPr>
        <p:spPr>
          <a:xfrm>
            <a:off x="335915" y="1057275"/>
            <a:ext cx="3729355" cy="307975"/>
          </a:xfrm>
          <a:prstGeom prst="rect">
            <a:avLst/>
          </a:prstGeom>
          <a:noFill/>
        </p:spPr>
        <p:txBody>
          <a:bodyPr wrap="square" rtlCol="0">
            <a:noAutofit/>
          </a:bodyPr>
          <a:p>
            <a:pPr algn="ctr"/>
            <a:r>
              <a:rPr lang="zh-CN" sz="1200">
                <a:latin typeface="黑体" panose="02010609060101010101" charset="-122"/>
                <a:ea typeface="黑体" panose="02010609060101010101" charset="-122"/>
                <a:cs typeface="黑体" panose="02010609060101010101" charset="-122"/>
                <a:sym typeface="+mn-ea"/>
              </a:rPr>
              <a:t>“拓展护理服务领域，提升患者就医体验”管理</a:t>
            </a:r>
            <a:r>
              <a:rPr sz="1200">
                <a:latin typeface="黑体" panose="02010609060101010101" charset="-122"/>
                <a:ea typeface="黑体" panose="02010609060101010101" charset="-122"/>
                <a:cs typeface="黑体" panose="02010609060101010101" charset="-122"/>
                <a:sym typeface="+mn-ea"/>
              </a:rPr>
              <a:t>论坛</a:t>
            </a:r>
            <a:endParaRPr lang="zh-CN" sz="1200">
              <a:latin typeface="黑体" panose="02010609060101010101" charset="-122"/>
              <a:ea typeface="黑体" panose="02010609060101010101" charset="-122"/>
              <a:cs typeface="黑体" panose="02010609060101010101" charset="-122"/>
            </a:endParaRPr>
          </a:p>
        </p:txBody>
      </p:sp>
      <p:sp>
        <p:nvSpPr>
          <p:cNvPr id="2" name="矩形 1"/>
          <p:cNvSpPr/>
          <p:nvPr>
            <p:custDataLst>
              <p:tags r:id="rId2"/>
            </p:custDataLst>
          </p:nvPr>
        </p:nvSpPr>
        <p:spPr>
          <a:xfrm>
            <a:off x="335915" y="1365250"/>
            <a:ext cx="6165215" cy="1465580"/>
          </a:xfrm>
          <a:prstGeom prst="rect">
            <a:avLst/>
          </a:prstGeom>
          <a:noFill/>
          <a:effectLst>
            <a:softEdge rad="12700"/>
          </a:effectLst>
        </p:spPr>
        <p:style>
          <a:lnRef idx="2">
            <a:schemeClr val="accent1"/>
          </a:lnRef>
          <a:fillRef idx="1">
            <a:schemeClr val="lt1"/>
          </a:fillRef>
          <a:effectRef idx="0">
            <a:schemeClr val="accent1"/>
          </a:effectRef>
          <a:fontRef idx="minor">
            <a:schemeClr val="dk1"/>
          </a:fontRef>
        </p:style>
        <p:txBody>
          <a:bodyPr wrap="square" lIns="91440" tIns="45720" rIns="91440" bIns="45720">
            <a:noAutofit/>
          </a:bodyPr>
          <a:p>
            <a:pPr algn="ctr"/>
            <a:r>
              <a:rPr lang="zh-CN" altLang="en-US" sz="2400" dirty="0">
                <a:ln w="0"/>
                <a:solidFill>
                  <a:schemeClr val="accent1"/>
                </a:solidFill>
                <a:effectLst>
                  <a:outerShdw blurRad="38100" dist="25400" dir="5400000" algn="ctr" rotWithShape="0">
                    <a:srgbClr val="6E747A">
                      <a:alpha val="43000"/>
                    </a:srgbClr>
                  </a:outerShdw>
                </a:effectLst>
              </a:rPr>
              <a:t>上海市首批社区护理中心</a:t>
            </a:r>
            <a:endParaRPr lang="en-US" altLang="zh-CN" sz="2400" dirty="0">
              <a:ln w="0"/>
              <a:solidFill>
                <a:schemeClr val="accent1"/>
              </a:solidFill>
              <a:effectLst>
                <a:outerShdw blurRad="38100" dist="25400" dir="5400000" algn="ctr" rotWithShape="0">
                  <a:srgbClr val="6E747A">
                    <a:alpha val="43000"/>
                  </a:srgbClr>
                </a:outerShdw>
              </a:effectLst>
            </a:endParaRPr>
          </a:p>
          <a:p>
            <a:pPr algn="ctr"/>
            <a:r>
              <a:rPr lang="zh-CN" altLang="en-US" sz="2400" dirty="0">
                <a:ln w="0"/>
                <a:solidFill>
                  <a:schemeClr val="accent1"/>
                </a:solidFill>
                <a:effectLst>
                  <a:outerShdw blurRad="38100" dist="25400" dir="5400000" algn="ctr" rotWithShape="0">
                    <a:srgbClr val="6E747A">
                      <a:alpha val="43000"/>
                    </a:srgbClr>
                  </a:outerShdw>
                </a:effectLst>
              </a:rPr>
              <a:t>护理人员工作体验的质性研究</a:t>
            </a:r>
            <a:endParaRPr lang="en-US" altLang="zh-CN" sz="2400" dirty="0">
              <a:ln w="0"/>
              <a:solidFill>
                <a:schemeClr val="accent1"/>
              </a:solidFill>
              <a:effectLst>
                <a:outerShdw blurRad="38100" dist="25400" dir="5400000" algn="ctr" rotWithShape="0">
                  <a:srgbClr val="6E747A">
                    <a:alpha val="43000"/>
                  </a:srgbClr>
                </a:outerShdw>
              </a:effectLst>
            </a:endParaRPr>
          </a:p>
          <a:p>
            <a:pPr algn="ctr"/>
            <a:r>
              <a:rPr lang="zh-CN" altLang="en-US" sz="1400" dirty="0">
                <a:ln w="0"/>
                <a:solidFill>
                  <a:schemeClr val="accent1"/>
                </a:solidFill>
                <a:effectLst>
                  <a:outerShdw blurRad="38100" dist="25400" dir="5400000" algn="ctr" rotWithShape="0">
                    <a:srgbClr val="6E747A">
                      <a:alpha val="43000"/>
                    </a:srgbClr>
                  </a:outerShdw>
                </a:effectLst>
              </a:rPr>
              <a:t>王春婷</a:t>
            </a:r>
            <a:r>
              <a:rPr lang="en-US" altLang="zh-CN" sz="1400" baseline="30000" dirty="0">
                <a:ln w="0"/>
                <a:solidFill>
                  <a:schemeClr val="accent1"/>
                </a:solidFill>
                <a:effectLst>
                  <a:outerShdw blurRad="38100" dist="25400" dir="5400000" algn="ctr" rotWithShape="0">
                    <a:srgbClr val="6E747A">
                      <a:alpha val="43000"/>
                    </a:srgbClr>
                  </a:outerShdw>
                </a:effectLst>
              </a:rPr>
              <a:t>1</a:t>
            </a:r>
            <a:r>
              <a:rPr lang="zh-CN" altLang="en-US" sz="1400" dirty="0">
                <a:ln w="0"/>
                <a:solidFill>
                  <a:schemeClr val="accent1"/>
                </a:solidFill>
                <a:effectLst>
                  <a:outerShdw blurRad="38100" dist="25400" dir="5400000" algn="ctr" rotWithShape="0">
                    <a:srgbClr val="6E747A">
                      <a:alpha val="43000"/>
                    </a:srgbClr>
                  </a:outerShdw>
                </a:effectLst>
              </a:rPr>
              <a:t> 陈劼 </a:t>
            </a:r>
            <a:r>
              <a:rPr lang="en-US" altLang="zh-CN" sz="1400" baseline="30000" dirty="0">
                <a:ln w="0"/>
                <a:solidFill>
                  <a:schemeClr val="accent1"/>
                </a:solidFill>
                <a:effectLst>
                  <a:outerShdw blurRad="38100" dist="25400" dir="5400000" algn="ctr" rotWithShape="0">
                    <a:srgbClr val="6E747A">
                      <a:alpha val="43000"/>
                    </a:srgbClr>
                  </a:outerShdw>
                </a:effectLst>
              </a:rPr>
              <a:t>2</a:t>
            </a:r>
            <a:r>
              <a:rPr lang="zh-CN" altLang="en-US" sz="1400" dirty="0">
                <a:ln w="0"/>
                <a:solidFill>
                  <a:schemeClr val="accent1"/>
                </a:solidFill>
                <a:effectLst>
                  <a:outerShdw blurRad="38100" dist="25400" dir="5400000" algn="ctr" rotWithShape="0">
                    <a:srgbClr val="6E747A">
                      <a:alpha val="43000"/>
                    </a:srgbClr>
                  </a:outerShdw>
                </a:effectLst>
              </a:rPr>
              <a:t>姜媛媛</a:t>
            </a:r>
            <a:r>
              <a:rPr lang="en-US" altLang="zh-CN" sz="1400" baseline="30000" dirty="0">
                <a:ln w="0"/>
                <a:solidFill>
                  <a:schemeClr val="accent1"/>
                </a:solidFill>
                <a:effectLst>
                  <a:outerShdw blurRad="38100" dist="25400" dir="5400000" algn="ctr" rotWithShape="0">
                    <a:srgbClr val="6E747A">
                      <a:alpha val="43000"/>
                    </a:srgbClr>
                  </a:outerShdw>
                </a:effectLst>
              </a:rPr>
              <a:t>1</a:t>
            </a:r>
            <a:r>
              <a:rPr lang="zh-CN" altLang="en-US" sz="1400" dirty="0">
                <a:ln w="0"/>
                <a:solidFill>
                  <a:schemeClr val="accent1"/>
                </a:solidFill>
                <a:effectLst>
                  <a:outerShdw blurRad="38100" dist="25400" dir="5400000" algn="ctr" rotWithShape="0">
                    <a:srgbClr val="6E747A">
                      <a:alpha val="43000"/>
                    </a:srgbClr>
                  </a:outerShdw>
                </a:effectLst>
              </a:rPr>
              <a:t>罗梦雨</a:t>
            </a:r>
            <a:r>
              <a:rPr lang="en-US" altLang="zh-CN" sz="1400" baseline="30000" dirty="0">
                <a:ln w="0"/>
                <a:solidFill>
                  <a:schemeClr val="accent1"/>
                </a:solidFill>
                <a:effectLst>
                  <a:outerShdw blurRad="38100" dist="25400" dir="5400000" algn="ctr" rotWithShape="0">
                    <a:srgbClr val="6E747A">
                      <a:alpha val="43000"/>
                    </a:srgbClr>
                  </a:outerShdw>
                </a:effectLst>
              </a:rPr>
              <a:t>1</a:t>
            </a:r>
            <a:endParaRPr lang="en-US" altLang="zh-CN" sz="1400" baseline="30000" dirty="0">
              <a:ln w="0"/>
              <a:solidFill>
                <a:schemeClr val="accent1"/>
              </a:solidFill>
              <a:effectLst>
                <a:outerShdw blurRad="38100" dist="25400" dir="5400000" algn="ctr" rotWithShape="0">
                  <a:srgbClr val="6E747A">
                    <a:alpha val="43000"/>
                  </a:srgbClr>
                </a:outerShdw>
              </a:effectLst>
            </a:endParaRPr>
          </a:p>
          <a:p>
            <a:pPr algn="ctr"/>
            <a:r>
              <a:rPr lang="en-US" altLang="zh-CN" sz="1400" baseline="30000" dirty="0">
                <a:ln w="0"/>
                <a:solidFill>
                  <a:schemeClr val="accent1"/>
                </a:solidFill>
                <a:effectLst>
                  <a:outerShdw blurRad="38100" dist="25400" dir="5400000" algn="ctr" rotWithShape="0">
                    <a:srgbClr val="6E747A">
                      <a:alpha val="43000"/>
                    </a:srgbClr>
                  </a:outerShdw>
                </a:effectLst>
              </a:rPr>
              <a:t>1</a:t>
            </a:r>
            <a:r>
              <a:rPr lang="zh-CN" altLang="en-US" sz="1400" dirty="0">
                <a:ln w="0"/>
                <a:solidFill>
                  <a:schemeClr val="accent1"/>
                </a:solidFill>
                <a:effectLst>
                  <a:outerShdw blurRad="38100" dist="25400" dir="5400000" algn="ctr" rotWithShape="0">
                    <a:srgbClr val="6E747A">
                      <a:alpha val="43000"/>
                    </a:srgbClr>
                  </a:outerShdw>
                </a:effectLst>
              </a:rPr>
              <a:t>复旦大学护理学院 </a:t>
            </a:r>
            <a:r>
              <a:rPr lang="en-US" altLang="zh-CN" sz="1400" baseline="30000" dirty="0">
                <a:ln w="0"/>
                <a:solidFill>
                  <a:schemeClr val="accent1"/>
                </a:solidFill>
                <a:effectLst>
                  <a:outerShdw blurRad="38100" dist="25400" dir="5400000" algn="ctr" rotWithShape="0">
                    <a:srgbClr val="6E747A">
                      <a:alpha val="43000"/>
                    </a:srgbClr>
                  </a:outerShdw>
                </a:effectLst>
              </a:rPr>
              <a:t>2</a:t>
            </a:r>
            <a:r>
              <a:rPr lang="zh-CN" altLang="en-US" sz="1400" dirty="0">
                <a:ln w="0"/>
                <a:solidFill>
                  <a:schemeClr val="accent1"/>
                </a:solidFill>
                <a:effectLst>
                  <a:outerShdw blurRad="38100" dist="25400" dir="5400000" algn="ctr" rotWithShape="0">
                    <a:srgbClr val="6E747A">
                      <a:alpha val="43000"/>
                    </a:srgbClr>
                  </a:outerShdw>
                </a:effectLst>
              </a:rPr>
              <a:t>复旦大学附属儿科医院</a:t>
            </a:r>
            <a:endParaRPr lang="en-US" altLang="zh-CN" sz="1400" dirty="0">
              <a:ln w="0"/>
              <a:solidFill>
                <a:schemeClr val="accent1"/>
              </a:solidFill>
              <a:effectLst>
                <a:outerShdw blurRad="38100" dist="25400" dir="5400000" algn="ctr" rotWithShape="0">
                  <a:srgbClr val="6E747A">
                    <a:alpha val="43000"/>
                  </a:srgbClr>
                </a:outerShdw>
              </a:effectLst>
            </a:endParaRPr>
          </a:p>
          <a:p>
            <a:pPr algn="ctr"/>
            <a:endParaRPr lang="zh-CN" altLang="en-US" sz="2400" dirty="0">
              <a:ln w="0"/>
              <a:solidFill>
                <a:schemeClr val="accent1"/>
              </a:solidFill>
              <a:effectLst>
                <a:outerShdw blurRad="38100" dist="25400" dir="5400000" algn="ctr" rotWithShape="0">
                  <a:srgbClr val="6E747A">
                    <a:alpha val="43000"/>
                  </a:srgbClr>
                </a:outerShdw>
              </a:effectLst>
            </a:endParaRPr>
          </a:p>
        </p:txBody>
      </p:sp>
      <p:sp>
        <p:nvSpPr>
          <p:cNvPr id="7" name="矩形 6"/>
          <p:cNvSpPr/>
          <p:nvPr>
            <p:custDataLst>
              <p:tags r:id="rId3"/>
            </p:custDataLst>
          </p:nvPr>
        </p:nvSpPr>
        <p:spPr>
          <a:xfrm>
            <a:off x="398780" y="2915147"/>
            <a:ext cx="2204901" cy="434906"/>
          </a:xfrm>
          <a:prstGeom prst="rect">
            <a:avLst/>
          </a:prstGeom>
          <a:solidFill>
            <a:schemeClr val="accent1"/>
          </a:solidFill>
          <a:ln>
            <a:solidFill>
              <a:schemeClr val="accent4">
                <a:lumMod val="40000"/>
                <a:lumOff val="60000"/>
              </a:schemeClr>
            </a:solidFill>
          </a:ln>
          <a:effectLst>
            <a:glow>
              <a:schemeClr val="accent4">
                <a:lumMod val="40000"/>
                <a:lumOff val="60000"/>
                <a:alpha val="40000"/>
              </a:schemeClr>
            </a:glow>
            <a:outerShdw blurRad="50800" dist="38100" dir="2700000" algn="tl" rotWithShape="0">
              <a:prstClr val="black">
                <a:alpha val="40000"/>
              </a:prstClr>
            </a:outerShdw>
            <a:reflection blurRad="6350" stA="52000" endA="300" endPos="13000" dir="5400000" sy="-100000" algn="bl" rotWithShape="0"/>
            <a:softEdge rad="78615"/>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b="1" dirty="0">
                <a:solidFill>
                  <a:schemeClr val="tx1"/>
                </a:solidFill>
              </a:rPr>
              <a:t>目的</a:t>
            </a:r>
            <a:endParaRPr kumimoji="1" lang="zh-CN" altLang="en-US" b="1" dirty="0">
              <a:solidFill>
                <a:schemeClr val="tx1"/>
              </a:solidFill>
            </a:endParaRPr>
          </a:p>
        </p:txBody>
      </p:sp>
      <p:sp>
        <p:nvSpPr>
          <p:cNvPr id="17" name="矩形 16"/>
          <p:cNvSpPr/>
          <p:nvPr>
            <p:custDataLst>
              <p:tags r:id="rId4"/>
            </p:custDataLst>
          </p:nvPr>
        </p:nvSpPr>
        <p:spPr>
          <a:xfrm>
            <a:off x="407590" y="4694322"/>
            <a:ext cx="2204901" cy="434906"/>
          </a:xfrm>
          <a:prstGeom prst="rect">
            <a:avLst/>
          </a:prstGeom>
          <a:solidFill>
            <a:schemeClr val="accent1"/>
          </a:solidFill>
          <a:effectLst>
            <a:outerShdw blurRad="50800" dist="38100" dir="2700000" algn="tl" rotWithShape="0">
              <a:prstClr val="black">
                <a:alpha val="40000"/>
              </a:prstClr>
            </a:outerShdw>
            <a:softEdge rad="78615"/>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b="1" dirty="0">
                <a:solidFill>
                  <a:schemeClr val="tx1"/>
                </a:solidFill>
              </a:rPr>
              <a:t>方法</a:t>
            </a:r>
            <a:endParaRPr kumimoji="1" lang="zh-CN" altLang="en-US" b="1" dirty="0">
              <a:solidFill>
                <a:schemeClr val="tx1"/>
              </a:solidFill>
            </a:endParaRPr>
          </a:p>
        </p:txBody>
      </p:sp>
      <p:sp>
        <p:nvSpPr>
          <p:cNvPr id="18" name="矩形 17"/>
          <p:cNvSpPr/>
          <p:nvPr>
            <p:custDataLst>
              <p:tags r:id="rId5"/>
            </p:custDataLst>
          </p:nvPr>
        </p:nvSpPr>
        <p:spPr>
          <a:xfrm>
            <a:off x="416311" y="6127595"/>
            <a:ext cx="2204901" cy="434906"/>
          </a:xfrm>
          <a:prstGeom prst="rect">
            <a:avLst/>
          </a:prstGeom>
          <a:solidFill>
            <a:schemeClr val="accent1"/>
          </a:solidFill>
          <a:effectLst>
            <a:outerShdw blurRad="50800" dist="38100" dir="2700000" algn="tl" rotWithShape="0">
              <a:prstClr val="black">
                <a:alpha val="40000"/>
              </a:prstClr>
            </a:outerShdw>
            <a:softEdge rad="78615"/>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b="1" dirty="0">
                <a:solidFill>
                  <a:schemeClr val="tx1"/>
                </a:solidFill>
              </a:rPr>
              <a:t>结果</a:t>
            </a:r>
            <a:endParaRPr kumimoji="1" lang="zh-CN" altLang="en-US" b="1" dirty="0">
              <a:solidFill>
                <a:schemeClr val="tx1"/>
              </a:solidFill>
            </a:endParaRPr>
          </a:p>
        </p:txBody>
      </p:sp>
      <p:sp>
        <p:nvSpPr>
          <p:cNvPr id="19" name="矩形 18"/>
          <p:cNvSpPr/>
          <p:nvPr>
            <p:custDataLst>
              <p:tags r:id="rId6"/>
            </p:custDataLst>
          </p:nvPr>
        </p:nvSpPr>
        <p:spPr>
          <a:xfrm>
            <a:off x="398779" y="8441358"/>
            <a:ext cx="2204901" cy="434906"/>
          </a:xfrm>
          <a:prstGeom prst="rect">
            <a:avLst/>
          </a:prstGeom>
          <a:solidFill>
            <a:schemeClr val="accent1"/>
          </a:solidFill>
          <a:effectLst>
            <a:outerShdw blurRad="50800" dist="38100" dir="2700000" algn="tl" rotWithShape="0">
              <a:prstClr val="black">
                <a:alpha val="40000"/>
              </a:prstClr>
            </a:outerShdw>
            <a:softEdge rad="78615"/>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b="1" dirty="0">
                <a:solidFill>
                  <a:schemeClr val="tx1"/>
                </a:solidFill>
              </a:rPr>
              <a:t>结论</a:t>
            </a:r>
            <a:endParaRPr kumimoji="1" lang="zh-CN" altLang="en-US" b="1" dirty="0">
              <a:solidFill>
                <a:schemeClr val="tx1"/>
              </a:solidFill>
            </a:endParaRPr>
          </a:p>
        </p:txBody>
      </p:sp>
      <p:cxnSp>
        <p:nvCxnSpPr>
          <p:cNvPr id="25" name="直线连接符 24"/>
          <p:cNvCxnSpPr/>
          <p:nvPr>
            <p:custDataLst>
              <p:tags r:id="rId7"/>
            </p:custDataLst>
          </p:nvPr>
        </p:nvCxnSpPr>
        <p:spPr>
          <a:xfrm>
            <a:off x="471227" y="3305132"/>
            <a:ext cx="6166024" cy="9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文本框 29"/>
          <p:cNvSpPr txBox="1"/>
          <p:nvPr>
            <p:custDataLst>
              <p:tags r:id="rId8"/>
            </p:custDataLst>
          </p:nvPr>
        </p:nvSpPr>
        <p:spPr>
          <a:xfrm>
            <a:off x="407590" y="3337479"/>
            <a:ext cx="6015408" cy="1651734"/>
          </a:xfrm>
          <a:prstGeom prst="rect">
            <a:avLst/>
          </a:prstGeom>
          <a:noFill/>
        </p:spPr>
        <p:txBody>
          <a:bodyPr wrap="square" rtlCol="0">
            <a:spAutoFit/>
          </a:bodyPr>
          <a:p>
            <a:pPr marL="0" marR="0" indent="304800" algn="just">
              <a:lnSpc>
                <a:spcPts val="2000"/>
              </a:lnSpc>
              <a:spcBef>
                <a:spcPts val="0"/>
              </a:spcBef>
              <a:spcAft>
                <a:spcPts val="0"/>
              </a:spcAft>
            </a:pPr>
            <a:r>
              <a:rPr lang="zh-CN" altLang="en-US" sz="1400" kern="100" dirty="0">
                <a:effectLst/>
                <a:latin typeface="宋体" pitchFamily="2" charset="-122"/>
                <a:ea typeface="宋体" pitchFamily="2" charset="-122"/>
                <a:cs typeface="Times New Roman" panose="02020503050405090304" pitchFamily="18" charset="0"/>
              </a:rPr>
              <a:t>社区护理中心作为一种新的社区护理工作模式，提供“整合型”“一站式”护理服务，覆盖门诊、病房、站点、居家、养老护理服务机构等各类社区场景。</a:t>
            </a:r>
            <a:r>
              <a:rPr lang="zh-CN" altLang="en-US" sz="1400" kern="100" dirty="0">
                <a:latin typeface="宋体" pitchFamily="2" charset="-122"/>
                <a:ea typeface="宋体" pitchFamily="2" charset="-122"/>
                <a:cs typeface="Times New Roman" panose="02020503050405090304" pitchFamily="18" charset="0"/>
              </a:rPr>
              <a:t>本研究通过对社区护理管理者和一专多能护士的深入访谈，了解社区护理人员在社区护理中心的从业体验，为后续社区护理中心的未来发展战略提供参考。</a:t>
            </a:r>
            <a:endParaRPr lang="zh-CN" altLang="en-US" sz="1400" kern="100" dirty="0">
              <a:latin typeface="宋体" pitchFamily="2" charset="-122"/>
              <a:ea typeface="宋体" pitchFamily="2" charset="-122"/>
              <a:cs typeface="Times New Roman" panose="02020503050405090304" pitchFamily="18" charset="0"/>
            </a:endParaRPr>
          </a:p>
          <a:p>
            <a:endParaRPr kumimoji="1" lang="zh-CN" altLang="en-US" dirty="0"/>
          </a:p>
        </p:txBody>
      </p:sp>
      <p:sp>
        <p:nvSpPr>
          <p:cNvPr id="32" name="文本框 31"/>
          <p:cNvSpPr txBox="1"/>
          <p:nvPr>
            <p:custDataLst>
              <p:tags r:id="rId9"/>
            </p:custDataLst>
          </p:nvPr>
        </p:nvSpPr>
        <p:spPr>
          <a:xfrm>
            <a:off x="398779" y="5096797"/>
            <a:ext cx="5949400" cy="1358577"/>
          </a:xfrm>
          <a:prstGeom prst="rect">
            <a:avLst/>
          </a:prstGeom>
          <a:noFill/>
        </p:spPr>
        <p:txBody>
          <a:bodyPr wrap="square">
            <a:spAutoFit/>
          </a:bodyPr>
          <a:p>
            <a:pPr indent="304800" algn="just">
              <a:lnSpc>
                <a:spcPts val="2000"/>
              </a:lnSpc>
            </a:pPr>
            <a:r>
              <a:rPr lang="zh-CN" altLang="en-US" sz="1400" kern="100" dirty="0">
                <a:effectLst/>
                <a:latin typeface="宋体" pitchFamily="2" charset="-122"/>
                <a:ea typeface="宋体" pitchFamily="2" charset="-122"/>
                <a:cs typeface="Times New Roman" panose="02020503050405090304" pitchFamily="18" charset="0"/>
              </a:rPr>
              <a:t>通过查阅国内外相关文献以及两名社区护理专家进行讨论，确定访谈提纲，并根据预访谈结果进行修改后，一对一半结构式深入访谈</a:t>
            </a:r>
            <a:r>
              <a:rPr lang="en-US" altLang="zh-CN" sz="1400" kern="100" dirty="0">
                <a:latin typeface="宋体" pitchFamily="2" charset="-122"/>
                <a:ea typeface="宋体" pitchFamily="2" charset="-122"/>
                <a:cs typeface="Times New Roman" panose="02020503050405090304" pitchFamily="18" charset="0"/>
              </a:rPr>
              <a:t>12</a:t>
            </a:r>
            <a:r>
              <a:rPr lang="zh-CN" altLang="en-US" sz="1400" kern="100" dirty="0">
                <a:latin typeface="宋体" pitchFamily="2" charset="-122"/>
                <a:ea typeface="宋体" pitchFamily="2" charset="-122"/>
                <a:cs typeface="Times New Roman" panose="02020503050405090304" pitchFamily="18" charset="0"/>
              </a:rPr>
              <a:t>名社护中心护士及</a:t>
            </a:r>
            <a:r>
              <a:rPr lang="en-US" altLang="zh-CN" sz="1400" kern="100" dirty="0">
                <a:latin typeface="宋体" pitchFamily="2" charset="-122"/>
                <a:ea typeface="宋体" pitchFamily="2" charset="-122"/>
                <a:cs typeface="Times New Roman" panose="02020503050405090304" pitchFamily="18" charset="0"/>
              </a:rPr>
              <a:t>12</a:t>
            </a:r>
            <a:r>
              <a:rPr lang="zh-CN" altLang="en-US" sz="1400" kern="100" dirty="0">
                <a:latin typeface="宋体" pitchFamily="2" charset="-122"/>
                <a:ea typeface="宋体" pitchFamily="2" charset="-122"/>
                <a:cs typeface="Times New Roman" panose="02020503050405090304" pitchFamily="18" charset="0"/>
              </a:rPr>
              <a:t>名护理管理者</a:t>
            </a:r>
            <a:r>
              <a:rPr lang="zh-CN" altLang="en-US" sz="1400" kern="100" dirty="0">
                <a:effectLst/>
                <a:latin typeface="宋体" pitchFamily="2" charset="-122"/>
                <a:ea typeface="宋体" pitchFamily="2" charset="-122"/>
                <a:cs typeface="Times New Roman" panose="02020503050405090304" pitchFamily="18" charset="0"/>
              </a:rPr>
              <a:t>，每次访谈时间为</a:t>
            </a:r>
            <a:r>
              <a:rPr lang="en-US" altLang="zh-CN" sz="1400" kern="100" dirty="0">
                <a:effectLst/>
                <a:latin typeface="宋体" pitchFamily="2" charset="-122"/>
                <a:ea typeface="宋体" pitchFamily="2" charset="-122"/>
                <a:cs typeface="Times New Roman" panose="02020503050405090304" pitchFamily="18" charset="0"/>
              </a:rPr>
              <a:t>30-60</a:t>
            </a:r>
            <a:r>
              <a:rPr lang="en-GB" altLang="zh-CN" sz="1400" kern="100" dirty="0">
                <a:effectLst/>
                <a:latin typeface="宋体" pitchFamily="2" charset="-122"/>
                <a:ea typeface="宋体" pitchFamily="2" charset="-122"/>
                <a:cs typeface="Times New Roman" panose="02020503050405090304" pitchFamily="18" charset="0"/>
              </a:rPr>
              <a:t>min</a:t>
            </a:r>
            <a:r>
              <a:rPr lang="zh-CN" altLang="en-GB" sz="1400" kern="100" dirty="0">
                <a:effectLst/>
                <a:latin typeface="宋体" pitchFamily="2" charset="-122"/>
                <a:ea typeface="宋体" pitchFamily="2" charset="-122"/>
                <a:cs typeface="Times New Roman" panose="02020503050405090304" pitchFamily="18" charset="0"/>
              </a:rPr>
              <a:t>，</a:t>
            </a:r>
            <a:r>
              <a:rPr lang="zh-CN" altLang="en-US" sz="1400" kern="100" dirty="0">
                <a:effectLst/>
                <a:latin typeface="宋体" pitchFamily="2" charset="-122"/>
                <a:ea typeface="宋体" pitchFamily="2" charset="-122"/>
                <a:cs typeface="Times New Roman" panose="02020503050405090304" pitchFamily="18" charset="0"/>
              </a:rPr>
              <a:t>采用内容分析法进行资料分析。</a:t>
            </a:r>
            <a:endParaRPr lang="zh-CN" altLang="en-US" sz="1400" kern="100" dirty="0">
              <a:effectLst/>
              <a:latin typeface="等线" panose="02010600030101010101" pitchFamily="2" charset="-122"/>
              <a:ea typeface="等线" panose="02010600030101010101" pitchFamily="2" charset="-122"/>
              <a:cs typeface="Times New Roman" panose="02020503050405090304" pitchFamily="18" charset="0"/>
            </a:endParaRPr>
          </a:p>
          <a:p>
            <a:pPr marL="0" marR="0" indent="304800" algn="just">
              <a:lnSpc>
                <a:spcPts val="2000"/>
              </a:lnSpc>
              <a:spcBef>
                <a:spcPts val="0"/>
              </a:spcBef>
              <a:spcAft>
                <a:spcPts val="0"/>
              </a:spcAft>
            </a:pPr>
            <a:endParaRPr lang="zh-CN" altLang="en-US" sz="1400" kern="100" dirty="0">
              <a:effectLst/>
              <a:latin typeface="等线" panose="02010600030101010101" pitchFamily="2" charset="-122"/>
              <a:ea typeface="等线" panose="02010600030101010101" pitchFamily="2" charset="-122"/>
              <a:cs typeface="Times New Roman" panose="02020503050405090304" pitchFamily="18" charset="0"/>
            </a:endParaRPr>
          </a:p>
        </p:txBody>
      </p:sp>
      <p:cxnSp>
        <p:nvCxnSpPr>
          <p:cNvPr id="33" name="直线连接符 32"/>
          <p:cNvCxnSpPr/>
          <p:nvPr>
            <p:custDataLst>
              <p:tags r:id="rId10"/>
            </p:custDataLst>
          </p:nvPr>
        </p:nvCxnSpPr>
        <p:spPr>
          <a:xfrm>
            <a:off x="523528" y="5063006"/>
            <a:ext cx="607159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线连接符 33"/>
          <p:cNvCxnSpPr/>
          <p:nvPr>
            <p:custDataLst>
              <p:tags r:id="rId11"/>
            </p:custDataLst>
          </p:nvPr>
        </p:nvCxnSpPr>
        <p:spPr>
          <a:xfrm>
            <a:off x="471227" y="6548135"/>
            <a:ext cx="6166024" cy="927"/>
          </a:xfrm>
          <a:prstGeom prst="line">
            <a:avLst/>
          </a:prstGeom>
        </p:spPr>
        <p:style>
          <a:lnRef idx="1">
            <a:schemeClr val="accent1"/>
          </a:lnRef>
          <a:fillRef idx="0">
            <a:schemeClr val="accent1"/>
          </a:fillRef>
          <a:effectRef idx="0">
            <a:schemeClr val="accent1"/>
          </a:effectRef>
          <a:fontRef idx="minor">
            <a:schemeClr val="tx1"/>
          </a:fontRef>
        </p:style>
      </p:cxnSp>
      <p:sp>
        <p:nvSpPr>
          <p:cNvPr id="37" name="文本框 36"/>
          <p:cNvSpPr txBox="1"/>
          <p:nvPr>
            <p:custDataLst>
              <p:tags r:id="rId12"/>
            </p:custDataLst>
          </p:nvPr>
        </p:nvSpPr>
        <p:spPr>
          <a:xfrm>
            <a:off x="429102" y="6562683"/>
            <a:ext cx="6021310" cy="1853841"/>
          </a:xfrm>
          <a:prstGeom prst="rect">
            <a:avLst/>
          </a:prstGeom>
          <a:noFill/>
        </p:spPr>
        <p:txBody>
          <a:bodyPr wrap="square" rtlCol="0">
            <a:spAutoFit/>
          </a:bodyPr>
          <a:p>
            <a:pPr indent="304800" algn="just">
              <a:lnSpc>
                <a:spcPts val="2000"/>
              </a:lnSpc>
            </a:pPr>
            <a:r>
              <a:rPr lang="zh-CN" altLang="en-US" sz="1400" kern="100" dirty="0">
                <a:latin typeface="宋体" pitchFamily="2" charset="-122"/>
                <a:ea typeface="宋体" pitchFamily="2" charset="-122"/>
                <a:cs typeface="Times New Roman" panose="02020503050405090304" pitchFamily="18" charset="0"/>
              </a:rPr>
              <a:t>最终形成三个主题及十二个亚主题：</a:t>
            </a:r>
            <a:endParaRPr lang="en-US" altLang="zh-CN" sz="1400" kern="100" dirty="0">
              <a:latin typeface="宋体" pitchFamily="2" charset="-122"/>
              <a:ea typeface="宋体" pitchFamily="2" charset="-122"/>
              <a:cs typeface="Times New Roman" panose="02020503050405090304" pitchFamily="18" charset="0"/>
            </a:endParaRPr>
          </a:p>
          <a:p>
            <a:pPr indent="304800" algn="just">
              <a:lnSpc>
                <a:spcPts val="2000"/>
              </a:lnSpc>
            </a:pPr>
            <a:r>
              <a:rPr lang="en-US" altLang="zh-CN" sz="1400" kern="100" dirty="0">
                <a:latin typeface="宋体" pitchFamily="2" charset="-122"/>
                <a:ea typeface="宋体" pitchFamily="2" charset="-122"/>
                <a:cs typeface="Times New Roman" panose="02020503050405090304" pitchFamily="18" charset="0"/>
              </a:rPr>
              <a:t>1</a:t>
            </a:r>
            <a:r>
              <a:rPr lang="zh-CN" altLang="en-US" sz="1400" kern="100" dirty="0">
                <a:latin typeface="宋体" pitchFamily="2" charset="-122"/>
                <a:ea typeface="宋体" pitchFamily="2" charset="-122"/>
                <a:cs typeface="Times New Roman" panose="02020503050405090304" pitchFamily="18" charset="0"/>
              </a:rPr>
              <a:t>、职业发展与社会价值：专业价值与技能提升；多元的职业发展机会；职业认同感和责任感；社会价值与地位提升。</a:t>
            </a:r>
            <a:endParaRPr lang="zh-CN" altLang="en-US" sz="1400" kern="100" dirty="0">
              <a:latin typeface="宋体" pitchFamily="2" charset="-122"/>
              <a:ea typeface="宋体" pitchFamily="2" charset="-122"/>
              <a:cs typeface="Times New Roman" panose="02020503050405090304" pitchFamily="18" charset="0"/>
            </a:endParaRPr>
          </a:p>
          <a:p>
            <a:pPr indent="304800" algn="just">
              <a:lnSpc>
                <a:spcPts val="2000"/>
              </a:lnSpc>
            </a:pPr>
            <a:r>
              <a:rPr lang="en-US" altLang="zh-CN" sz="1400" kern="100" dirty="0">
                <a:latin typeface="宋体" pitchFamily="2" charset="-122"/>
                <a:ea typeface="宋体" pitchFamily="2" charset="-122"/>
                <a:cs typeface="Times New Roman" panose="02020503050405090304" pitchFamily="18" charset="0"/>
              </a:rPr>
              <a:t>2</a:t>
            </a:r>
            <a:r>
              <a:rPr lang="zh-CN" altLang="en-US" sz="1400" kern="100" dirty="0">
                <a:latin typeface="宋体" pitchFamily="2" charset="-122"/>
                <a:ea typeface="宋体" pitchFamily="2" charset="-122"/>
                <a:cs typeface="Times New Roman" panose="02020503050405090304" pitchFamily="18" charset="0"/>
              </a:rPr>
              <a:t>、职业发展困境与挑战：人力资源不足；绩效分配不完善；工作赋权和资源受限；居家护理风险。</a:t>
            </a:r>
            <a:endParaRPr lang="zh-CN" altLang="en-US" sz="1400" kern="100" dirty="0">
              <a:latin typeface="宋体" pitchFamily="2" charset="-122"/>
              <a:ea typeface="宋体" pitchFamily="2" charset="-122"/>
              <a:cs typeface="Times New Roman" panose="02020503050405090304" pitchFamily="18" charset="0"/>
            </a:endParaRPr>
          </a:p>
          <a:p>
            <a:pPr indent="304800" algn="just">
              <a:lnSpc>
                <a:spcPts val="2000"/>
              </a:lnSpc>
            </a:pPr>
            <a:r>
              <a:rPr lang="en-US" altLang="zh-CN" sz="1400" kern="100" dirty="0">
                <a:latin typeface="宋体" pitchFamily="2" charset="-122"/>
                <a:ea typeface="宋体" pitchFamily="2" charset="-122"/>
                <a:cs typeface="Times New Roman" panose="02020503050405090304" pitchFamily="18" charset="0"/>
              </a:rPr>
              <a:t>3</a:t>
            </a:r>
            <a:r>
              <a:rPr lang="zh-CN" altLang="en-US" sz="1400" kern="100" dirty="0">
                <a:latin typeface="宋体" pitchFamily="2" charset="-122"/>
                <a:ea typeface="宋体" pitchFamily="2" charset="-122"/>
                <a:cs typeface="Times New Roman" panose="02020503050405090304" pitchFamily="18" charset="0"/>
              </a:rPr>
              <a:t>、职业发展需求与期待：期待获得进一步支持；建立同质化管理；规范培训与复训；完善双向转诊制度。</a:t>
            </a:r>
            <a:endParaRPr lang="zh-CN" altLang="en-US" sz="1400" kern="100" dirty="0">
              <a:latin typeface="宋体" pitchFamily="2" charset="-122"/>
              <a:ea typeface="宋体" pitchFamily="2" charset="-122"/>
              <a:cs typeface="Times New Roman" panose="02020503050405090304" pitchFamily="18" charset="0"/>
            </a:endParaRPr>
          </a:p>
        </p:txBody>
      </p:sp>
      <p:cxnSp>
        <p:nvCxnSpPr>
          <p:cNvPr id="38" name="直线连接符 37"/>
          <p:cNvCxnSpPr/>
          <p:nvPr>
            <p:custDataLst>
              <p:tags r:id="rId13"/>
            </p:custDataLst>
          </p:nvPr>
        </p:nvCxnSpPr>
        <p:spPr>
          <a:xfrm flipV="1">
            <a:off x="523528" y="8825692"/>
            <a:ext cx="6071597" cy="21566"/>
          </a:xfrm>
          <a:prstGeom prst="line">
            <a:avLst/>
          </a:prstGeom>
        </p:spPr>
        <p:style>
          <a:lnRef idx="1">
            <a:schemeClr val="accent1"/>
          </a:lnRef>
          <a:fillRef idx="0">
            <a:schemeClr val="accent1"/>
          </a:fillRef>
          <a:effectRef idx="0">
            <a:schemeClr val="accent1"/>
          </a:effectRef>
          <a:fontRef idx="minor">
            <a:schemeClr val="tx1"/>
          </a:fontRef>
        </p:style>
      </p:cxnSp>
      <p:sp>
        <p:nvSpPr>
          <p:cNvPr id="40" name="文本框 39"/>
          <p:cNvSpPr txBox="1"/>
          <p:nvPr>
            <p:custDataLst>
              <p:tags r:id="rId14"/>
            </p:custDataLst>
          </p:nvPr>
        </p:nvSpPr>
        <p:spPr>
          <a:xfrm>
            <a:off x="523528" y="8850526"/>
            <a:ext cx="5926883" cy="2110321"/>
          </a:xfrm>
          <a:prstGeom prst="rect">
            <a:avLst/>
          </a:prstGeom>
          <a:noFill/>
        </p:spPr>
        <p:txBody>
          <a:bodyPr wrap="square" rtlCol="0">
            <a:spAutoFit/>
          </a:bodyPr>
          <a:p>
            <a:pPr indent="304800" algn="just">
              <a:lnSpc>
                <a:spcPts val="2000"/>
              </a:lnSpc>
            </a:pPr>
            <a:r>
              <a:rPr lang="zh-CN" altLang="en-US" sz="1400" kern="100" dirty="0">
                <a:latin typeface="宋体" pitchFamily="2" charset="-122"/>
                <a:ea typeface="宋体" pitchFamily="2" charset="-122"/>
                <a:cs typeface="Times New Roman" panose="02020503050405090304" pitchFamily="18" charset="0"/>
              </a:rPr>
              <a:t>社区护理中心的开展是实现社区护士专业价值和社会价值的重要体现，为患者提供便捷化、专业化的护理服务，对实现全生命周期健康服务具有重要意义。但人财物资源的不足及上级重视激励措施不足、工作权限受限等阻碍了社区护理中心的发展，希望未来加大支持力度，完善管理及复训机制，加强分诊体系内的交互学习，形成具有区域特色的护理服务。建议未来扩大研究范围，完善研究设计类型，促进社区护理中心高质量发展及管理政策的修订提供依据。</a:t>
            </a:r>
            <a:endParaRPr lang="zh-CN" altLang="en-US" sz="1400" kern="100" dirty="0">
              <a:latin typeface="宋体" pitchFamily="2" charset="-122"/>
              <a:ea typeface="宋体" pitchFamily="2" charset="-122"/>
              <a:cs typeface="Times New Roman" panose="02020503050405090304" pitchFamily="18" charset="0"/>
            </a:endParaRPr>
          </a:p>
          <a:p>
            <a:pPr indent="304800" algn="just">
              <a:lnSpc>
                <a:spcPts val="2000"/>
              </a:lnSpc>
            </a:pPr>
            <a:endParaRPr lang="zh-CN" altLang="en-US" sz="1400" kern="100" dirty="0">
              <a:latin typeface="宋体" pitchFamily="2" charset="-122"/>
              <a:ea typeface="宋体" pitchFamily="2" charset="-122"/>
              <a:cs typeface="Times New Roman" panose="02020503050405090304" pitchFamily="18"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commondata" val="eyJoZGlkIjoiM2Y4NzUxZmYxM2U0MTQ5ODViNGYyYzBlOGQzMzY3Mj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698</Words>
  <Application>WPS 文字</Application>
  <PresentationFormat>宽屏</PresentationFormat>
  <Paragraphs>30</Paragraphs>
  <Slides>1</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vt:i4>
      </vt:variant>
    </vt:vector>
  </HeadingPairs>
  <TitlesOfParts>
    <vt:vector size="19" baseType="lpstr">
      <vt:lpstr>Arial</vt:lpstr>
      <vt:lpstr>宋体</vt:lpstr>
      <vt:lpstr>Wingdings</vt:lpstr>
      <vt:lpstr>黑体</vt:lpstr>
      <vt:lpstr>汉仪中黑KW</vt:lpstr>
      <vt:lpstr>等线</vt:lpstr>
      <vt:lpstr>汉仪中等线KW</vt:lpstr>
      <vt:lpstr>微软雅黑</vt:lpstr>
      <vt:lpstr>汉仪旗黑</vt:lpstr>
      <vt:lpstr>宋体</vt:lpstr>
      <vt:lpstr>Arial Unicode MS</vt:lpstr>
      <vt:lpstr>等线 Light</vt:lpstr>
      <vt:lpstr>Calibri</vt:lpstr>
      <vt:lpstr>Helvetica Neue</vt:lpstr>
      <vt:lpstr>汉仪书宋二KW</vt:lpstr>
      <vt:lpstr>Times New Roman</vt:lpstr>
      <vt:lpstr>等线</vt:lpstr>
      <vt:lpstr>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冯智慧</dc:creator>
  <cp:lastModifiedBy>零</cp:lastModifiedBy>
  <cp:revision>5</cp:revision>
  <dcterms:created xsi:type="dcterms:W3CDTF">2024-11-09T12:45:18Z</dcterms:created>
  <dcterms:modified xsi:type="dcterms:W3CDTF">2024-11-09T12:45:18Z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C5826E7263A845505E592F67E98968A9_43</vt:lpwstr>
  </property>
  <property fmtid="{D5CDD505-2E9C-101B-9397-08002B2CF9AE}" pid="3" name="KSOProductBuildVer">
    <vt:lpwstr>2052-6.5.2.8766</vt:lpwstr>
  </property>
</Properties>
</file>